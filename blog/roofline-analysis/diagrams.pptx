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No Style, Table Grid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solidFill>
                <a:schemeClr val="dk1"/>
              </a:solidFill>
            </a:ln>
          </a:insideH>
          <a:insideV>
            <a:ln w="12700">
              <a:solidFill>
                <a:schemeClr val="dk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12700">
              <a:solidFill>
                <a:schemeClr val="lt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12700">
              <a:solidFill>
                <a:schemeClr val="dk1"/>
              </a:solidFill>
            </a:ln>
          </a:bottom>
        </a:tcBdr>
        <a:fill>
          <a:solidFill>
            <a:schemeClr val="l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02380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833632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8977782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3402755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0180239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27828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440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77577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7859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063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77863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84073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0B5EEE-A78C-4C1D-1371-C521B4A84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2531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30476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20025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18868E-48D5-83DD-1392-1E011EC4427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999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5218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17561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9A4E9A-74B0-1E27-4704-8CDC3FC1C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7121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1014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3899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EE551-3782-DF6B-9E1C-B5C27999CDF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43911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25295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9444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0BD5E6-29A0-3224-C569-5D29025305F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9764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97177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17610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1ECEBB-633A-920D-0588-28C60A7B0DE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79960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8750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587187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660868-6ECF-F5A0-F3E8-F8B0F4700CF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49302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61456048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8673328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250958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34299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7544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1838070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046035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051555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21583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49185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26150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611966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49377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04925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6255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2654557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873235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1882465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3080881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448233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06607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713930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78769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185272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7581035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9234839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1837109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98272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5951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8559555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37392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182979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66537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433932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07362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69626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7104063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1856038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169107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118978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20188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71237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246620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7806943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4208430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1415128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458520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225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059665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850233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635120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61713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49778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9252974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613350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83050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7848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18575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69859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1115864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2173126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152302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734645" name=""/>
          <p:cNvSpPr/>
          <p:nvPr/>
        </p:nvSpPr>
        <p:spPr bwMode="auto">
          <a:xfrm rot="0" flipH="0" flipV="0">
            <a:off x="1846991" y="2716113"/>
            <a:ext cx="2098476" cy="117574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Memory</a:t>
            </a:r>
            <a:endParaRPr>
              <a:latin typeface="Open Sans"/>
              <a:cs typeface="Open Sans"/>
            </a:endParaRPr>
          </a:p>
        </p:txBody>
      </p:sp>
      <p:sp>
        <p:nvSpPr>
          <p:cNvPr id="1383331589" name=""/>
          <p:cNvSpPr/>
          <p:nvPr/>
        </p:nvSpPr>
        <p:spPr bwMode="auto">
          <a:xfrm rot="0" flipH="0" flipV="0">
            <a:off x="5686757" y="2604492"/>
            <a:ext cx="2247304" cy="13989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PE</a:t>
            </a:r>
            <a:endParaRPr>
              <a:latin typeface="Open Sans"/>
              <a:cs typeface="Open Sans"/>
            </a:endParaRPr>
          </a:p>
        </p:txBody>
      </p:sp>
      <p:cxnSp>
        <p:nvCxnSpPr>
          <p:cNvPr id="1515432168" name=""/>
          <p:cNvCxnSpPr>
            <a:stCxn id="1814734645" idx="3"/>
            <a:endCxn id="1383331589" idx="1"/>
          </p:cNvCxnSpPr>
          <p:nvPr/>
        </p:nvCxnSpPr>
        <p:spPr bwMode="auto">
          <a:xfrm rot="0" flipH="0" flipV="0">
            <a:off x="3945468" y="3303984"/>
            <a:ext cx="1741289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3834865" name=""/>
          <p:cNvSpPr txBox="1"/>
          <p:nvPr/>
        </p:nvSpPr>
        <p:spPr bwMode="auto">
          <a:xfrm rot="0" flipH="0" flipV="0">
            <a:off x="4225902" y="2842616"/>
            <a:ext cx="118078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Bytes/s</a:t>
            </a:r>
            <a:endParaRPr>
              <a:latin typeface="Open Sans"/>
              <a:cs typeface="Open Sans"/>
            </a:endParaRPr>
          </a:p>
        </p:txBody>
      </p:sp>
      <p:sp>
        <p:nvSpPr>
          <p:cNvPr id="335234802" name=""/>
          <p:cNvSpPr txBox="1"/>
          <p:nvPr/>
        </p:nvSpPr>
        <p:spPr bwMode="auto">
          <a:xfrm rot="0" flipH="0" flipV="0">
            <a:off x="6163068" y="2158007"/>
            <a:ext cx="118258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Op/s</a:t>
            </a:r>
            <a:endParaRPr>
              <a:latin typeface="Open Sans"/>
              <a:cs typeface="Open Sans"/>
            </a:endParaRPr>
          </a:p>
        </p:txBody>
      </p:sp>
      <p:sp>
        <p:nvSpPr>
          <p:cNvPr id="1653854561" name=""/>
          <p:cNvSpPr/>
          <p:nvPr/>
        </p:nvSpPr>
        <p:spPr bwMode="auto">
          <a:xfrm rot="0" flipH="0" flipV="0">
            <a:off x="7026210" y="3616523"/>
            <a:ext cx="1131093" cy="7739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Program</a:t>
            </a:r>
            <a:endParaRPr>
              <a:solidFill>
                <a:schemeClr val="tx1"/>
              </a:solidFill>
              <a:latin typeface="Open Sans"/>
              <a:cs typeface="Open Sans"/>
            </a:endParaRPr>
          </a:p>
        </p:txBody>
      </p:sp>
      <p:sp>
        <p:nvSpPr>
          <p:cNvPr id="83677779" name=""/>
          <p:cNvSpPr txBox="1"/>
          <p:nvPr/>
        </p:nvSpPr>
        <p:spPr bwMode="auto">
          <a:xfrm rot="0" flipH="0" flipV="0">
            <a:off x="7026210" y="4360663"/>
            <a:ext cx="118474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Op/byte</a:t>
            </a:r>
            <a:endParaRPr>
              <a:latin typeface="Open Sans"/>
              <a:cs typeface="Open Sans"/>
            </a:endParaRPr>
          </a:p>
        </p:txBody>
      </p:sp>
      <p:sp>
        <p:nvSpPr>
          <p:cNvPr id="482793501" name=""/>
          <p:cNvSpPr txBox="1"/>
          <p:nvPr/>
        </p:nvSpPr>
        <p:spPr bwMode="auto">
          <a:xfrm rot="0" flipH="0" flipV="0">
            <a:off x="2827817" y="4555392"/>
            <a:ext cx="430401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 algn="l">
              <a:buFont typeface="Arial"/>
              <a:buChar char="•"/>
              <a:defRPr/>
            </a:pPr>
            <a:r>
              <a:rPr>
                <a:latin typeface="Open Sans"/>
                <a:ea typeface="Open Sans"/>
                <a:cs typeface="Open Sans"/>
              </a:rPr>
              <a:t>Program:</a:t>
            </a:r>
            <a:endParaRPr>
              <a:latin typeface="Open Sans"/>
              <a:cs typeface="Open Sans"/>
            </a:endParaRPr>
          </a:p>
          <a:p>
            <a:pPr algn="ctr">
              <a:defRPr/>
            </a:pPr>
            <a:r>
              <a:rPr>
                <a:latin typeface="Consolas"/>
                <a:ea typeface="Consolas"/>
                <a:cs typeface="Consolas"/>
              </a:rPr>
              <a:t>C[idx] = A[idx] + B[idx];</a:t>
            </a:r>
            <a:endParaRPr>
              <a:latin typeface="Consolas"/>
              <a:cs typeface="Consolas"/>
            </a:endParaRPr>
          </a:p>
        </p:txBody>
      </p:sp>
      <p:sp>
        <p:nvSpPr>
          <p:cNvPr id="592785267" name=""/>
          <p:cNvSpPr txBox="1"/>
          <p:nvPr/>
        </p:nvSpPr>
        <p:spPr bwMode="auto">
          <a:xfrm rot="0" flipH="0" flipV="0">
            <a:off x="8337338" y="2533053"/>
            <a:ext cx="3533346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PE = CPU/GPU</a:t>
            </a:r>
            <a:endParaRPr>
              <a:latin typeface="Open Sans"/>
              <a:ea typeface="Open Sans"/>
              <a:cs typeface="Open Sans"/>
            </a:endParaRPr>
          </a:p>
          <a:p>
            <a:pPr algn="ctr">
              <a:defRPr/>
            </a:pPr>
            <a:endParaRPr>
              <a:latin typeface="Open Sans"/>
              <a:ea typeface="Open Sans"/>
              <a:cs typeface="Open Sans"/>
            </a:endParaRPr>
          </a:p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Memory = Disk/HBM/Cache (off chip memory)</a:t>
            </a:r>
            <a:endParaRPr>
              <a:latin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66966993" name=""/>
          <p:cNvCxnSpPr/>
          <p:nvPr/>
        </p:nvCxnSpPr>
        <p:spPr bwMode="auto">
          <a:xfrm rot="0" flipH="1" flipV="1">
            <a:off x="2769726" y="1205507"/>
            <a:ext cx="0" cy="3958827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  <a:tailEnd type="triangle" w="lg" len="lg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534316" name=""/>
          <p:cNvCxnSpPr/>
          <p:nvPr/>
        </p:nvCxnSpPr>
        <p:spPr bwMode="auto">
          <a:xfrm rot="0" flipH="0" flipV="0">
            <a:off x="2427421" y="4896444"/>
            <a:ext cx="4777382" cy="0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  <a:tailEnd type="triangle" w="lg" len="lg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1529663" name=""/>
          <p:cNvSpPr txBox="1"/>
          <p:nvPr/>
        </p:nvSpPr>
        <p:spPr bwMode="auto">
          <a:xfrm rot="0" flipH="0" flipV="0">
            <a:off x="3336712" y="5092896"/>
            <a:ext cx="354882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Ops/Byte</a:t>
            </a:r>
            <a:endParaRPr>
              <a:latin typeface="Open Sans"/>
              <a:ea typeface="Open Sans"/>
              <a:cs typeface="Open Sans"/>
            </a:endParaRPr>
          </a:p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(Arithmetic Intensity)</a:t>
            </a:r>
            <a:endParaRPr>
              <a:latin typeface="Open Sans"/>
              <a:cs typeface="Open Sans"/>
            </a:endParaRPr>
          </a:p>
        </p:txBody>
      </p:sp>
      <p:sp>
        <p:nvSpPr>
          <p:cNvPr id="146222883" name=""/>
          <p:cNvSpPr txBox="1"/>
          <p:nvPr/>
        </p:nvSpPr>
        <p:spPr bwMode="auto">
          <a:xfrm rot="0" flipH="0" flipV="0">
            <a:off x="758139" y="2864701"/>
            <a:ext cx="189324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Ops/s</a:t>
            </a:r>
            <a:endParaRPr>
              <a:latin typeface="Open Sans"/>
              <a:ea typeface="Open Sans"/>
              <a:cs typeface="Open Sans"/>
            </a:endParaRPr>
          </a:p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(Performance)</a:t>
            </a:r>
            <a:endParaRPr>
              <a:latin typeface="Open Sans"/>
              <a:cs typeface="Open Sans"/>
            </a:endParaRPr>
          </a:p>
        </p:txBody>
      </p:sp>
      <p:sp>
        <p:nvSpPr>
          <p:cNvPr id="408426603" name=""/>
          <p:cNvSpPr txBox="1"/>
          <p:nvPr/>
        </p:nvSpPr>
        <p:spPr bwMode="auto">
          <a:xfrm rot="0" flipH="0" flipV="0">
            <a:off x="3484101" y="4077890"/>
            <a:ext cx="7334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(1, 1)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468274899" name=""/>
          <p:cNvSpPr/>
          <p:nvPr/>
        </p:nvSpPr>
        <p:spPr bwMode="auto">
          <a:xfrm rot="0" flipH="0" flipV="0">
            <a:off x="3484101" y="4077890"/>
            <a:ext cx="104179" cy="892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19621179" name=""/>
          <p:cNvSpPr txBox="1"/>
          <p:nvPr/>
        </p:nvSpPr>
        <p:spPr bwMode="auto">
          <a:xfrm rot="0" flipH="0" flipV="0">
            <a:off x="3476660" y="3291660"/>
            <a:ext cx="73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(1, 2)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343438886" name=""/>
          <p:cNvSpPr/>
          <p:nvPr/>
        </p:nvSpPr>
        <p:spPr bwMode="auto">
          <a:xfrm rot="0" flipH="0" flipV="0">
            <a:off x="3476660" y="3291660"/>
            <a:ext cx="104179" cy="8929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75232291" name=""/>
          <p:cNvSpPr txBox="1"/>
          <p:nvPr/>
        </p:nvSpPr>
        <p:spPr bwMode="auto">
          <a:xfrm rot="0" flipH="0" flipV="0">
            <a:off x="4317539" y="4092773"/>
            <a:ext cx="73418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(2, 1)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1042108270" name=""/>
          <p:cNvSpPr/>
          <p:nvPr/>
        </p:nvSpPr>
        <p:spPr bwMode="auto">
          <a:xfrm rot="0" flipH="0" flipV="0">
            <a:off x="4317539" y="4092773"/>
            <a:ext cx="104179" cy="892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062974138" name=""/>
          <p:cNvCxnSpPr/>
          <p:nvPr/>
        </p:nvCxnSpPr>
        <p:spPr bwMode="auto">
          <a:xfrm rot="0" flipH="1" flipV="1">
            <a:off x="2769726" y="1205507"/>
            <a:ext cx="0" cy="3958827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  <a:tailEnd type="triangle" w="lg" len="lg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063614" name=""/>
          <p:cNvCxnSpPr/>
          <p:nvPr/>
        </p:nvCxnSpPr>
        <p:spPr bwMode="auto">
          <a:xfrm rot="0" flipH="0" flipV="0">
            <a:off x="2427421" y="4896444"/>
            <a:ext cx="4777382" cy="0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  <a:tailEnd type="triangle" w="lg" len="lg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7683759" name=""/>
          <p:cNvSpPr txBox="1"/>
          <p:nvPr/>
        </p:nvSpPr>
        <p:spPr bwMode="auto">
          <a:xfrm rot="0" flipH="0" flipV="0">
            <a:off x="3336712" y="5092896"/>
            <a:ext cx="354882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Ops/Byte</a:t>
            </a:r>
            <a:endParaRPr>
              <a:latin typeface="Open Sans"/>
              <a:ea typeface="Open Sans"/>
              <a:cs typeface="Open Sans"/>
            </a:endParaRPr>
          </a:p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(Arithmetic Intensity)</a:t>
            </a:r>
            <a:endParaRPr>
              <a:latin typeface="Open Sans"/>
              <a:cs typeface="Open Sans"/>
            </a:endParaRPr>
          </a:p>
        </p:txBody>
      </p:sp>
      <p:sp>
        <p:nvSpPr>
          <p:cNvPr id="1568813134" name=""/>
          <p:cNvSpPr txBox="1"/>
          <p:nvPr/>
        </p:nvSpPr>
        <p:spPr bwMode="auto">
          <a:xfrm rot="0" flipH="0" flipV="0">
            <a:off x="758139" y="2864701"/>
            <a:ext cx="189324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Ops/s</a:t>
            </a:r>
            <a:endParaRPr>
              <a:latin typeface="Open Sans"/>
              <a:ea typeface="Open Sans"/>
              <a:cs typeface="Open Sans"/>
            </a:endParaRPr>
          </a:p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(Performance)</a:t>
            </a:r>
            <a:endParaRPr>
              <a:latin typeface="Open Sans"/>
              <a:cs typeface="Open Sans"/>
            </a:endParaRPr>
          </a:p>
        </p:txBody>
      </p:sp>
      <p:sp>
        <p:nvSpPr>
          <p:cNvPr id="1141058569" name=""/>
          <p:cNvSpPr txBox="1"/>
          <p:nvPr/>
        </p:nvSpPr>
        <p:spPr bwMode="auto">
          <a:xfrm rot="0" flipH="0" flipV="0">
            <a:off x="3484101" y="4077890"/>
            <a:ext cx="7334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(1, 1)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1030398203" name=""/>
          <p:cNvSpPr/>
          <p:nvPr/>
        </p:nvSpPr>
        <p:spPr bwMode="auto">
          <a:xfrm rot="0" flipH="0" flipV="0">
            <a:off x="3484101" y="4077890"/>
            <a:ext cx="104179" cy="892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202972" name=""/>
          <p:cNvSpPr txBox="1"/>
          <p:nvPr/>
        </p:nvSpPr>
        <p:spPr bwMode="auto">
          <a:xfrm rot="0" flipH="0" flipV="0">
            <a:off x="3476660" y="3291660"/>
            <a:ext cx="73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(1, 2)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890875049" name=""/>
          <p:cNvSpPr/>
          <p:nvPr/>
        </p:nvSpPr>
        <p:spPr bwMode="auto">
          <a:xfrm rot="0" flipH="0" flipV="0">
            <a:off x="3476660" y="3291660"/>
            <a:ext cx="104179" cy="8929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9655025" name=""/>
          <p:cNvSpPr txBox="1"/>
          <p:nvPr/>
        </p:nvSpPr>
        <p:spPr bwMode="auto">
          <a:xfrm rot="0" flipH="0" flipV="0">
            <a:off x="4317539" y="4092773"/>
            <a:ext cx="73418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(2, 1)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945378603" name=""/>
          <p:cNvSpPr/>
          <p:nvPr/>
        </p:nvSpPr>
        <p:spPr bwMode="auto">
          <a:xfrm rot="0" flipH="0" flipV="0">
            <a:off x="4317539" y="4092773"/>
            <a:ext cx="104179" cy="892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07660664" name=""/>
          <p:cNvCxnSpPr/>
          <p:nvPr/>
        </p:nvCxnSpPr>
        <p:spPr bwMode="auto">
          <a:xfrm flipH="0" flipV="1">
            <a:off x="2763135" y="2502477"/>
            <a:ext cx="1177636" cy="2372589"/>
          </a:xfrm>
          <a:prstGeom prst="line">
            <a:avLst/>
          </a:prstGeom>
          <a:ln w="12699" cap="flat" cmpd="sng" algn="ctr">
            <a:solidFill>
              <a:schemeClr val="tx1">
                <a:lumMod val="50196"/>
                <a:lumOff val="49804"/>
              </a:schemeClr>
            </a:solidFill>
            <a:prstDash val="sys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791466" name=""/>
          <p:cNvCxnSpPr/>
          <p:nvPr/>
        </p:nvCxnSpPr>
        <p:spPr bwMode="auto">
          <a:xfrm flipH="0" flipV="1">
            <a:off x="2769726" y="3184921"/>
            <a:ext cx="1699250" cy="1690144"/>
          </a:xfrm>
          <a:prstGeom prst="line">
            <a:avLst/>
          </a:prstGeom>
          <a:ln w="12699" cap="flat" cmpd="sng" algn="ctr">
            <a:solidFill>
              <a:schemeClr val="tx1">
                <a:lumMod val="50196"/>
                <a:lumOff val="49804"/>
              </a:schemeClr>
            </a:solidFill>
            <a:prstDash val="sys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669352" name=""/>
          <p:cNvCxnSpPr/>
          <p:nvPr/>
        </p:nvCxnSpPr>
        <p:spPr bwMode="auto">
          <a:xfrm flipH="0" flipV="1">
            <a:off x="2769726" y="3688772"/>
            <a:ext cx="2573818" cy="1207672"/>
          </a:xfrm>
          <a:prstGeom prst="line">
            <a:avLst/>
          </a:prstGeom>
          <a:ln w="12699" cap="flat" cmpd="sng" algn="ctr">
            <a:solidFill>
              <a:schemeClr val="tx1">
                <a:lumMod val="50196"/>
                <a:lumOff val="49804"/>
              </a:schemeClr>
            </a:solidFill>
            <a:prstDash val="sys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3004182" name=""/>
          <p:cNvSpPr txBox="1"/>
          <p:nvPr/>
        </p:nvSpPr>
        <p:spPr bwMode="auto">
          <a:xfrm rot="0" flipH="0" flipV="0">
            <a:off x="4135698" y="3429000"/>
            <a:ext cx="356106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BW = 0.5 Byte/s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1995230178" name=""/>
          <p:cNvSpPr txBox="1"/>
          <p:nvPr/>
        </p:nvSpPr>
        <p:spPr bwMode="auto">
          <a:xfrm rot="0" flipH="0" flipV="0">
            <a:off x="4360834" y="2921729"/>
            <a:ext cx="14395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BW = 1 Byte/s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287151111" name=""/>
          <p:cNvSpPr txBox="1"/>
          <p:nvPr/>
        </p:nvSpPr>
        <p:spPr bwMode="auto">
          <a:xfrm rot="0" flipH="0" flipV="0">
            <a:off x="3730794" y="2278546"/>
            <a:ext cx="14402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BW = 2 Byte/s</a:t>
            </a:r>
            <a:endParaRPr sz="1200">
              <a:latin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198377" name=""/>
          <p:cNvSpPr/>
          <p:nvPr/>
        </p:nvSpPr>
        <p:spPr bwMode="auto">
          <a:xfrm rot="0" flipH="0" flipV="0">
            <a:off x="2763135" y="3291660"/>
            <a:ext cx="1021772" cy="160938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0032" y="23039"/>
                </a:moveTo>
                <a:lnTo>
                  <a:pt x="43200" y="0"/>
                </a:lnTo>
                <a:lnTo>
                  <a:pt x="43200" y="43200"/>
                </a:lnTo>
                <a:lnTo>
                  <a:pt x="0" y="43200"/>
                </a:lnTo>
                <a:lnTo>
                  <a:pt x="20032" y="23039"/>
                </a:lnTo>
                <a:close/>
              </a:path>
            </a:pathLst>
          </a:custGeom>
          <a:solidFill>
            <a:schemeClr val="accent6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53525419" name=""/>
          <p:cNvSpPr/>
          <p:nvPr/>
        </p:nvSpPr>
        <p:spPr bwMode="auto">
          <a:xfrm rot="0" flipH="0" flipV="0">
            <a:off x="3784908" y="3291660"/>
            <a:ext cx="2450521" cy="1609384"/>
          </a:xfrm>
          <a:prstGeom prst="rect">
            <a:avLst/>
          </a:prstGeom>
          <a:solidFill>
            <a:schemeClr val="accent6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23406048" name=""/>
          <p:cNvCxnSpPr/>
          <p:nvPr/>
        </p:nvCxnSpPr>
        <p:spPr bwMode="auto">
          <a:xfrm rot="0" flipH="1" flipV="1">
            <a:off x="2769726" y="1205507"/>
            <a:ext cx="0" cy="3958827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  <a:tailEnd type="triangle" w="lg" len="lg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565450" name=""/>
          <p:cNvCxnSpPr/>
          <p:nvPr/>
        </p:nvCxnSpPr>
        <p:spPr bwMode="auto">
          <a:xfrm rot="0" flipH="0" flipV="0">
            <a:off x="2427421" y="4896444"/>
            <a:ext cx="4777382" cy="0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  <a:tailEnd type="triangle" w="lg" len="lg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480178" name=""/>
          <p:cNvSpPr txBox="1"/>
          <p:nvPr/>
        </p:nvSpPr>
        <p:spPr bwMode="auto">
          <a:xfrm rot="0" flipH="0" flipV="0">
            <a:off x="3336712" y="5092896"/>
            <a:ext cx="354882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Ops/Byte</a:t>
            </a:r>
            <a:endParaRPr>
              <a:latin typeface="Open Sans"/>
              <a:ea typeface="Open Sans"/>
              <a:cs typeface="Open Sans"/>
            </a:endParaRPr>
          </a:p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(Arithmetic Intensity)</a:t>
            </a:r>
            <a:endParaRPr>
              <a:latin typeface="Open Sans"/>
              <a:cs typeface="Open Sans"/>
            </a:endParaRPr>
          </a:p>
        </p:txBody>
      </p:sp>
      <p:sp>
        <p:nvSpPr>
          <p:cNvPr id="1262522629" name=""/>
          <p:cNvSpPr txBox="1"/>
          <p:nvPr/>
        </p:nvSpPr>
        <p:spPr bwMode="auto">
          <a:xfrm rot="0" flipH="0" flipV="0">
            <a:off x="758139" y="2864701"/>
            <a:ext cx="189324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Ops/s</a:t>
            </a:r>
            <a:endParaRPr>
              <a:latin typeface="Open Sans"/>
              <a:ea typeface="Open Sans"/>
              <a:cs typeface="Open Sans"/>
            </a:endParaRPr>
          </a:p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(Performance)</a:t>
            </a:r>
            <a:endParaRPr>
              <a:latin typeface="Open Sans"/>
              <a:cs typeface="Open Sans"/>
            </a:endParaRPr>
          </a:p>
        </p:txBody>
      </p:sp>
      <p:sp>
        <p:nvSpPr>
          <p:cNvPr id="185957052" name=""/>
          <p:cNvSpPr txBox="1"/>
          <p:nvPr/>
        </p:nvSpPr>
        <p:spPr bwMode="auto">
          <a:xfrm rot="0" flipH="0" flipV="0">
            <a:off x="3449762" y="4044729"/>
            <a:ext cx="7334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(1, 1)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1469679685" name=""/>
          <p:cNvSpPr/>
          <p:nvPr/>
        </p:nvSpPr>
        <p:spPr bwMode="auto">
          <a:xfrm rot="0" flipH="0" flipV="0">
            <a:off x="3484101" y="4077890"/>
            <a:ext cx="104179" cy="892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23769001" name=""/>
          <p:cNvSpPr txBox="1"/>
          <p:nvPr/>
        </p:nvSpPr>
        <p:spPr bwMode="auto">
          <a:xfrm rot="0" flipH="0" flipV="0">
            <a:off x="2969800" y="3047581"/>
            <a:ext cx="73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(1, 2)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1303118839" name=""/>
          <p:cNvSpPr/>
          <p:nvPr/>
        </p:nvSpPr>
        <p:spPr bwMode="auto">
          <a:xfrm rot="0" flipH="0" flipV="0">
            <a:off x="3476660" y="3291660"/>
            <a:ext cx="104179" cy="8929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76110329" name=""/>
          <p:cNvSpPr txBox="1"/>
          <p:nvPr/>
        </p:nvSpPr>
        <p:spPr bwMode="auto">
          <a:xfrm rot="0" flipH="0" flipV="0">
            <a:off x="4317539" y="4092773"/>
            <a:ext cx="73418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(2, 1)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337563626" name=""/>
          <p:cNvSpPr/>
          <p:nvPr/>
        </p:nvSpPr>
        <p:spPr bwMode="auto">
          <a:xfrm rot="0" flipH="0" flipV="0">
            <a:off x="4317539" y="4092773"/>
            <a:ext cx="104179" cy="892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75394159" name=""/>
          <p:cNvCxnSpPr/>
          <p:nvPr/>
        </p:nvCxnSpPr>
        <p:spPr bwMode="auto">
          <a:xfrm flipH="0" flipV="1">
            <a:off x="2763136" y="2606386"/>
            <a:ext cx="1506681" cy="2268681"/>
          </a:xfrm>
          <a:prstGeom prst="line">
            <a:avLst/>
          </a:prstGeom>
          <a:ln w="19049" cap="flat" cmpd="sng" algn="ctr">
            <a:solidFill>
              <a:srgbClr val="7F7F7F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1055428" name=""/>
          <p:cNvSpPr txBox="1"/>
          <p:nvPr/>
        </p:nvSpPr>
        <p:spPr bwMode="auto">
          <a:xfrm rot="0" flipH="0" flipV="0">
            <a:off x="4183227" y="2461592"/>
            <a:ext cx="25811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System Bandwidth = 1.5 Bytes/s</a:t>
            </a:r>
            <a:endParaRPr sz="1200">
              <a:latin typeface="Open Sans"/>
              <a:cs typeface="Open Sans"/>
            </a:endParaRPr>
          </a:p>
        </p:txBody>
      </p:sp>
      <p:cxnSp>
        <p:nvCxnSpPr>
          <p:cNvPr id="972770039" name=""/>
          <p:cNvCxnSpPr/>
          <p:nvPr/>
        </p:nvCxnSpPr>
        <p:spPr bwMode="auto">
          <a:xfrm flipH="0" flipV="1">
            <a:off x="2763135" y="2502477"/>
            <a:ext cx="1177635" cy="2372588"/>
          </a:xfrm>
          <a:prstGeom prst="line">
            <a:avLst/>
          </a:prstGeom>
          <a:ln w="12699" cap="flat" cmpd="sng" algn="ctr">
            <a:solidFill>
              <a:schemeClr val="tx1">
                <a:lumMod val="50196"/>
                <a:lumOff val="49804"/>
              </a:schemeClr>
            </a:solidFill>
            <a:prstDash val="sys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4079253" name=""/>
          <p:cNvCxnSpPr/>
          <p:nvPr/>
        </p:nvCxnSpPr>
        <p:spPr bwMode="auto">
          <a:xfrm flipH="0" flipV="1">
            <a:off x="2769725" y="3184920"/>
            <a:ext cx="1699249" cy="1690144"/>
          </a:xfrm>
          <a:prstGeom prst="line">
            <a:avLst/>
          </a:prstGeom>
          <a:ln w="12699" cap="flat" cmpd="sng" algn="ctr">
            <a:solidFill>
              <a:schemeClr val="tx1">
                <a:lumMod val="50196"/>
                <a:lumOff val="49804"/>
              </a:schemeClr>
            </a:solidFill>
            <a:prstDash val="sys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3725934" name=""/>
          <p:cNvCxnSpPr/>
          <p:nvPr/>
        </p:nvCxnSpPr>
        <p:spPr bwMode="auto">
          <a:xfrm flipH="0" flipV="1">
            <a:off x="2769725" y="3688771"/>
            <a:ext cx="2573817" cy="1207672"/>
          </a:xfrm>
          <a:prstGeom prst="line">
            <a:avLst/>
          </a:prstGeom>
          <a:ln w="12699" cap="flat" cmpd="sng" algn="ctr">
            <a:solidFill>
              <a:schemeClr val="tx1">
                <a:lumMod val="50196"/>
                <a:lumOff val="49804"/>
              </a:schemeClr>
            </a:solidFill>
            <a:prstDash val="sys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297607" name=""/>
          <p:cNvSpPr txBox="1"/>
          <p:nvPr/>
        </p:nvSpPr>
        <p:spPr bwMode="auto">
          <a:xfrm rot="0" flipH="0" flipV="0">
            <a:off x="4317539" y="3193580"/>
            <a:ext cx="73490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(2, 2)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473062797" name=""/>
          <p:cNvSpPr/>
          <p:nvPr/>
        </p:nvSpPr>
        <p:spPr bwMode="auto">
          <a:xfrm rot="0" flipH="0" flipV="0">
            <a:off x="3533795" y="3732068"/>
            <a:ext cx="2701636" cy="1168977"/>
          </a:xfrm>
          <a:prstGeom prst="rect">
            <a:avLst/>
          </a:prstGeom>
          <a:solidFill>
            <a:schemeClr val="accent1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10679617" name=""/>
          <p:cNvCxnSpPr/>
          <p:nvPr/>
        </p:nvCxnSpPr>
        <p:spPr bwMode="auto">
          <a:xfrm rot="0" flipH="1" flipV="1">
            <a:off x="2769726" y="1205507"/>
            <a:ext cx="0" cy="3958827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  <a:tailEnd type="triangle" w="lg" len="lg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1315372" name=""/>
          <p:cNvCxnSpPr/>
          <p:nvPr/>
        </p:nvCxnSpPr>
        <p:spPr bwMode="auto">
          <a:xfrm rot="0" flipH="0" flipV="0">
            <a:off x="2427421" y="4896444"/>
            <a:ext cx="4777382" cy="0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  <a:tailEnd type="triangle" w="lg" len="lg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3853592" name=""/>
          <p:cNvSpPr txBox="1"/>
          <p:nvPr/>
        </p:nvSpPr>
        <p:spPr bwMode="auto">
          <a:xfrm rot="0" flipH="0" flipV="0">
            <a:off x="3336712" y="5092896"/>
            <a:ext cx="354882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Ops/Byte</a:t>
            </a:r>
            <a:endParaRPr>
              <a:latin typeface="Open Sans"/>
              <a:ea typeface="Open Sans"/>
              <a:cs typeface="Open Sans"/>
            </a:endParaRPr>
          </a:p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(Arithmetic Intensity)</a:t>
            </a:r>
            <a:endParaRPr>
              <a:latin typeface="Open Sans"/>
              <a:cs typeface="Open Sans"/>
            </a:endParaRPr>
          </a:p>
        </p:txBody>
      </p:sp>
      <p:sp>
        <p:nvSpPr>
          <p:cNvPr id="666511529" name=""/>
          <p:cNvSpPr txBox="1"/>
          <p:nvPr/>
        </p:nvSpPr>
        <p:spPr bwMode="auto">
          <a:xfrm rot="0" flipH="0" flipV="0">
            <a:off x="758139" y="2864701"/>
            <a:ext cx="189324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Ops/s</a:t>
            </a:r>
            <a:endParaRPr>
              <a:latin typeface="Open Sans"/>
              <a:ea typeface="Open Sans"/>
              <a:cs typeface="Open Sans"/>
            </a:endParaRPr>
          </a:p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(Performance)</a:t>
            </a:r>
            <a:endParaRPr>
              <a:latin typeface="Open Sans"/>
              <a:cs typeface="Open Sans"/>
            </a:endParaRPr>
          </a:p>
        </p:txBody>
      </p:sp>
      <p:sp>
        <p:nvSpPr>
          <p:cNvPr id="219577828" name=""/>
          <p:cNvSpPr txBox="1"/>
          <p:nvPr/>
        </p:nvSpPr>
        <p:spPr bwMode="auto">
          <a:xfrm rot="0" flipH="0" flipV="0">
            <a:off x="3484101" y="4077890"/>
            <a:ext cx="7334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(1, 1)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1567187445" name=""/>
          <p:cNvSpPr/>
          <p:nvPr/>
        </p:nvSpPr>
        <p:spPr bwMode="auto">
          <a:xfrm rot="0" flipH="0" flipV="0">
            <a:off x="3484101" y="4077890"/>
            <a:ext cx="104179" cy="892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7388318" name=""/>
          <p:cNvSpPr txBox="1"/>
          <p:nvPr/>
        </p:nvSpPr>
        <p:spPr bwMode="auto">
          <a:xfrm rot="0" flipH="0" flipV="0">
            <a:off x="2888957" y="3197615"/>
            <a:ext cx="73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(1, 2)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1409642157" name=""/>
          <p:cNvSpPr/>
          <p:nvPr/>
        </p:nvSpPr>
        <p:spPr bwMode="auto">
          <a:xfrm rot="0" flipH="0" flipV="0">
            <a:off x="3476660" y="3291660"/>
            <a:ext cx="104179" cy="8929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5907749" name=""/>
          <p:cNvSpPr txBox="1"/>
          <p:nvPr/>
        </p:nvSpPr>
        <p:spPr bwMode="auto">
          <a:xfrm rot="0" flipH="0" flipV="0">
            <a:off x="4317539" y="4092773"/>
            <a:ext cx="73418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(2, 1)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575113832" name=""/>
          <p:cNvSpPr/>
          <p:nvPr/>
        </p:nvSpPr>
        <p:spPr bwMode="auto">
          <a:xfrm rot="0" flipH="0" flipV="0">
            <a:off x="4317539" y="4092773"/>
            <a:ext cx="104179" cy="892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48849840" name=""/>
          <p:cNvCxnSpPr/>
          <p:nvPr/>
        </p:nvCxnSpPr>
        <p:spPr bwMode="auto">
          <a:xfrm flipH="0" flipV="1">
            <a:off x="2763136" y="2736272"/>
            <a:ext cx="1420090" cy="2138795"/>
          </a:xfrm>
          <a:prstGeom prst="line">
            <a:avLst/>
          </a:prstGeom>
          <a:ln w="28575" cap="flat" cmpd="sng" algn="ctr">
            <a:solidFill>
              <a:schemeClr val="tx1">
                <a:lumMod val="50196"/>
                <a:lumOff val="49804"/>
              </a:schemeClr>
            </a:solidFill>
            <a:prstDash val="sys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7772182" name=""/>
          <p:cNvSpPr txBox="1"/>
          <p:nvPr/>
        </p:nvSpPr>
        <p:spPr bwMode="auto">
          <a:xfrm rot="0" flipH="0" flipV="0">
            <a:off x="4183227" y="2598932"/>
            <a:ext cx="24680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Peak Bandwidth = 1.5 Bytes/s</a:t>
            </a:r>
            <a:endParaRPr sz="1200">
              <a:latin typeface="Open Sans"/>
              <a:cs typeface="Open Sans"/>
            </a:endParaRPr>
          </a:p>
        </p:txBody>
      </p:sp>
      <p:cxnSp>
        <p:nvCxnSpPr>
          <p:cNvPr id="284601022" name=""/>
          <p:cNvCxnSpPr/>
          <p:nvPr/>
        </p:nvCxnSpPr>
        <p:spPr bwMode="auto">
          <a:xfrm flipH="0" flipV="1">
            <a:off x="2769726" y="3732068"/>
            <a:ext cx="3454146" cy="0"/>
          </a:xfrm>
          <a:prstGeom prst="line">
            <a:avLst/>
          </a:prstGeom>
          <a:ln w="12699" cap="flat" cmpd="sng" algn="ctr">
            <a:solidFill>
              <a:schemeClr val="tx1">
                <a:lumMod val="50196"/>
                <a:lumOff val="49804"/>
              </a:schemeClr>
            </a:solidFill>
            <a:prstDash val="sys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7568902" name=""/>
          <p:cNvSpPr txBox="1"/>
          <p:nvPr/>
        </p:nvSpPr>
        <p:spPr bwMode="auto">
          <a:xfrm rot="0" flipH="0" flipV="0">
            <a:off x="4603424" y="3461846"/>
            <a:ext cx="204712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Peak Perf = 1.5 Ops/s</a:t>
            </a:r>
            <a:endParaRPr sz="1200">
              <a:latin typeface="Open Sans"/>
              <a:cs typeface="Open Sans"/>
            </a:endParaRPr>
          </a:p>
        </p:txBody>
      </p:sp>
      <p:cxnSp>
        <p:nvCxnSpPr>
          <p:cNvPr id="1730798741" name=""/>
          <p:cNvCxnSpPr/>
          <p:nvPr/>
        </p:nvCxnSpPr>
        <p:spPr bwMode="auto">
          <a:xfrm flipH="0" flipV="1">
            <a:off x="2763135" y="2502477"/>
            <a:ext cx="1177635" cy="2372588"/>
          </a:xfrm>
          <a:prstGeom prst="line">
            <a:avLst/>
          </a:prstGeom>
          <a:ln w="12699" cap="flat" cmpd="sng" algn="ctr">
            <a:solidFill>
              <a:schemeClr val="tx1">
                <a:lumMod val="50196"/>
                <a:lumOff val="49804"/>
              </a:schemeClr>
            </a:solidFill>
            <a:prstDash val="sys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6282506" name=""/>
          <p:cNvSpPr/>
          <p:nvPr/>
        </p:nvSpPr>
        <p:spPr bwMode="auto">
          <a:xfrm rot="0" flipH="0" flipV="0">
            <a:off x="4317539" y="3290306"/>
            <a:ext cx="104179" cy="89296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590008268" name=""/>
          <p:cNvCxnSpPr/>
          <p:nvPr/>
        </p:nvCxnSpPr>
        <p:spPr bwMode="auto">
          <a:xfrm flipH="0" flipV="1">
            <a:off x="2769725" y="3184920"/>
            <a:ext cx="1699249" cy="1690144"/>
          </a:xfrm>
          <a:prstGeom prst="line">
            <a:avLst/>
          </a:prstGeom>
          <a:ln w="12699" cap="flat" cmpd="sng" algn="ctr">
            <a:solidFill>
              <a:schemeClr val="tx1">
                <a:lumMod val="50196"/>
                <a:lumOff val="49804"/>
              </a:schemeClr>
            </a:solidFill>
            <a:prstDash val="sys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9782233" name=""/>
          <p:cNvCxnSpPr/>
          <p:nvPr/>
        </p:nvCxnSpPr>
        <p:spPr bwMode="auto">
          <a:xfrm flipH="0" flipV="1">
            <a:off x="2769725" y="3688771"/>
            <a:ext cx="2573817" cy="1207672"/>
          </a:xfrm>
          <a:prstGeom prst="line">
            <a:avLst/>
          </a:prstGeom>
          <a:ln w="12699" cap="flat" cmpd="sng" algn="ctr">
            <a:solidFill>
              <a:schemeClr val="tx1">
                <a:lumMod val="50196"/>
                <a:lumOff val="49804"/>
              </a:schemeClr>
            </a:solidFill>
            <a:prstDash val="sys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613178" name=""/>
          <p:cNvSpPr/>
          <p:nvPr/>
        </p:nvSpPr>
        <p:spPr bwMode="auto">
          <a:xfrm rot="0" flipH="0" flipV="0">
            <a:off x="2763136" y="3732068"/>
            <a:ext cx="765613" cy="116897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0032" y="23039"/>
                </a:moveTo>
                <a:lnTo>
                  <a:pt x="43200" y="0"/>
                </a:lnTo>
                <a:lnTo>
                  <a:pt x="43200" y="43200"/>
                </a:lnTo>
                <a:lnTo>
                  <a:pt x="0" y="43200"/>
                </a:lnTo>
                <a:lnTo>
                  <a:pt x="20032" y="23039"/>
                </a:lnTo>
                <a:close/>
              </a:path>
            </a:pathLst>
          </a:custGeom>
          <a:solidFill>
            <a:schemeClr val="accent6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8083555" name=""/>
          <p:cNvSpPr/>
          <p:nvPr/>
        </p:nvSpPr>
        <p:spPr bwMode="auto">
          <a:xfrm rot="0" flipH="0" flipV="0">
            <a:off x="3533795" y="3732068"/>
            <a:ext cx="2701636" cy="1168977"/>
          </a:xfrm>
          <a:prstGeom prst="rect">
            <a:avLst/>
          </a:prstGeom>
          <a:solidFill>
            <a:schemeClr val="accent1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cxnSp>
        <p:nvCxnSpPr>
          <p:cNvPr id="1672752495" name=""/>
          <p:cNvCxnSpPr/>
          <p:nvPr/>
        </p:nvCxnSpPr>
        <p:spPr bwMode="auto">
          <a:xfrm rot="0" flipH="1" flipV="1">
            <a:off x="2769726" y="1205507"/>
            <a:ext cx="0" cy="3958827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  <a:tailEnd type="triangle" w="lg" len="lg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8898554" name=""/>
          <p:cNvCxnSpPr/>
          <p:nvPr/>
        </p:nvCxnSpPr>
        <p:spPr bwMode="auto">
          <a:xfrm rot="0" flipH="0" flipV="0">
            <a:off x="2427421" y="4896444"/>
            <a:ext cx="4777382" cy="0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  <a:tailEnd type="triangle" w="lg" len="lg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7882260" name=""/>
          <p:cNvSpPr txBox="1"/>
          <p:nvPr/>
        </p:nvSpPr>
        <p:spPr bwMode="auto">
          <a:xfrm rot="0" flipH="0" flipV="0">
            <a:off x="3336712" y="5092896"/>
            <a:ext cx="354882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Ops/Byte</a:t>
            </a:r>
            <a:endParaRPr>
              <a:latin typeface="Open Sans"/>
              <a:ea typeface="Open Sans"/>
              <a:cs typeface="Open Sans"/>
            </a:endParaRPr>
          </a:p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(Arithmetic Intensity)</a:t>
            </a:r>
            <a:endParaRPr>
              <a:latin typeface="Open Sans"/>
              <a:cs typeface="Open Sans"/>
            </a:endParaRPr>
          </a:p>
        </p:txBody>
      </p:sp>
      <p:sp>
        <p:nvSpPr>
          <p:cNvPr id="1772076009" name=""/>
          <p:cNvSpPr txBox="1"/>
          <p:nvPr/>
        </p:nvSpPr>
        <p:spPr bwMode="auto">
          <a:xfrm rot="0" flipH="0" flipV="0">
            <a:off x="758139" y="2864701"/>
            <a:ext cx="189324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Ops/s</a:t>
            </a:r>
            <a:endParaRPr>
              <a:latin typeface="Open Sans"/>
              <a:ea typeface="Open Sans"/>
              <a:cs typeface="Open Sans"/>
            </a:endParaRPr>
          </a:p>
          <a:p>
            <a:pPr algn="ctr">
              <a:defRPr/>
            </a:pPr>
            <a:r>
              <a:rPr>
                <a:latin typeface="Open Sans"/>
                <a:ea typeface="Open Sans"/>
                <a:cs typeface="Open Sans"/>
              </a:rPr>
              <a:t>(Performance)</a:t>
            </a:r>
            <a:endParaRPr>
              <a:latin typeface="Open Sans"/>
              <a:cs typeface="Open Sans"/>
            </a:endParaRPr>
          </a:p>
        </p:txBody>
      </p:sp>
      <p:sp>
        <p:nvSpPr>
          <p:cNvPr id="1059490892" name=""/>
          <p:cNvSpPr/>
          <p:nvPr/>
        </p:nvSpPr>
        <p:spPr bwMode="auto">
          <a:xfrm rot="0" flipH="0" flipV="0">
            <a:off x="3232533" y="4536822"/>
            <a:ext cx="104179" cy="892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3328658" name=""/>
          <p:cNvSpPr/>
          <p:nvPr/>
        </p:nvSpPr>
        <p:spPr bwMode="auto">
          <a:xfrm rot="0" flipH="0" flipV="0">
            <a:off x="3832629" y="4536822"/>
            <a:ext cx="104179" cy="892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43789588" name=""/>
          <p:cNvCxnSpPr/>
          <p:nvPr/>
        </p:nvCxnSpPr>
        <p:spPr bwMode="auto">
          <a:xfrm flipH="0" flipV="1">
            <a:off x="2763136" y="2736272"/>
            <a:ext cx="1420090" cy="2138795"/>
          </a:xfrm>
          <a:prstGeom prst="line">
            <a:avLst/>
          </a:prstGeom>
          <a:ln w="12699" cap="flat" cmpd="sng" algn="ctr">
            <a:solidFill>
              <a:schemeClr val="tx1">
                <a:lumMod val="50196"/>
                <a:lumOff val="49804"/>
              </a:schemeClr>
            </a:solidFill>
            <a:prstDash val="sys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8051195" name=""/>
          <p:cNvSpPr txBox="1"/>
          <p:nvPr/>
        </p:nvSpPr>
        <p:spPr bwMode="auto">
          <a:xfrm rot="0" flipH="0" flipV="0">
            <a:off x="4183227" y="2598932"/>
            <a:ext cx="204064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Bandwidth = 1.5 Bytes/s</a:t>
            </a:r>
            <a:endParaRPr sz="1200">
              <a:latin typeface="Open Sans"/>
              <a:cs typeface="Open Sans"/>
            </a:endParaRPr>
          </a:p>
        </p:txBody>
      </p:sp>
      <p:cxnSp>
        <p:nvCxnSpPr>
          <p:cNvPr id="820171428" name=""/>
          <p:cNvCxnSpPr/>
          <p:nvPr/>
        </p:nvCxnSpPr>
        <p:spPr bwMode="auto">
          <a:xfrm flipH="0" flipV="1">
            <a:off x="2769726" y="3732068"/>
            <a:ext cx="3454146" cy="0"/>
          </a:xfrm>
          <a:prstGeom prst="line">
            <a:avLst/>
          </a:prstGeom>
          <a:ln w="12699" cap="flat" cmpd="sng" algn="ctr">
            <a:solidFill>
              <a:schemeClr val="tx1">
                <a:lumMod val="50196"/>
                <a:lumOff val="49804"/>
              </a:schemeClr>
            </a:solidFill>
            <a:prstDash val="sys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0654563" name=""/>
          <p:cNvSpPr txBox="1"/>
          <p:nvPr/>
        </p:nvSpPr>
        <p:spPr bwMode="auto">
          <a:xfrm rot="0" flipH="0" flipV="0">
            <a:off x="4369628" y="3429000"/>
            <a:ext cx="204712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Peak Perf = 1.5 Ops/s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147187040" name=""/>
          <p:cNvSpPr/>
          <p:nvPr/>
        </p:nvSpPr>
        <p:spPr bwMode="auto">
          <a:xfrm rot="0" flipH="0" flipV="0">
            <a:off x="3481705" y="3687419"/>
            <a:ext cx="104179" cy="89296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1201093" name=""/>
          <p:cNvSpPr/>
          <p:nvPr/>
        </p:nvSpPr>
        <p:spPr bwMode="auto">
          <a:xfrm rot="0" flipH="0" flipV="0">
            <a:off x="3232533" y="4227259"/>
            <a:ext cx="104179" cy="892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6535547" name=""/>
          <p:cNvSpPr txBox="1"/>
          <p:nvPr/>
        </p:nvSpPr>
        <p:spPr bwMode="auto">
          <a:xfrm rot="0" flipH="0" flipV="0">
            <a:off x="2886835" y="3274508"/>
            <a:ext cx="795575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Ridge Point</a:t>
            </a:r>
            <a:endParaRPr sz="1200">
              <a:latin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302756840" name=""/>
          <p:cNvGraphicFramePr>
            <a:graphicFrameLocks xmlns:a="http://schemas.openxmlformats.org/drawingml/2006/main"/>
          </p:cNvGraphicFramePr>
          <p:nvPr/>
        </p:nvGraphicFramePr>
        <p:xfrm>
          <a:off x="914977" y="2263486"/>
          <a:ext cx="2393681" cy="184149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476196"/>
                <a:gridCol w="476196"/>
                <a:gridCol w="476196"/>
                <a:gridCol w="476196"/>
                <a:gridCol w="476196"/>
              </a:tblGrid>
              <a:tr h="34109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  <a:tr h="363984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  <a:tr h="34109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  <a:tr h="34109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  <a:tr h="34109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48522837" name=""/>
          <p:cNvGraphicFramePr>
            <a:graphicFrameLocks xmlns:a="http://schemas.openxmlformats.org/drawingml/2006/main"/>
          </p:cNvGraphicFramePr>
          <p:nvPr/>
        </p:nvGraphicFramePr>
        <p:xfrm rot="0">
          <a:off x="914977" y="4546022"/>
          <a:ext cx="2393680" cy="3784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476195"/>
                <a:gridCol w="476195"/>
                <a:gridCol w="476195"/>
                <a:gridCol w="476195"/>
                <a:gridCol w="476195"/>
              </a:tblGrid>
              <a:tr h="34109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77108052" name=""/>
          <p:cNvGraphicFramePr>
            <a:graphicFrameLocks xmlns:a="http://schemas.openxmlformats.org/drawingml/2006/main"/>
          </p:cNvGraphicFramePr>
          <p:nvPr/>
        </p:nvGraphicFramePr>
        <p:xfrm rot="0">
          <a:off x="3299997" y="4546022"/>
          <a:ext cx="2393680" cy="3784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476195"/>
                <a:gridCol w="476195"/>
                <a:gridCol w="476195"/>
                <a:gridCol w="476195"/>
                <a:gridCol w="476195"/>
              </a:tblGrid>
              <a:tr h="34109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17144460" name=""/>
          <p:cNvSpPr/>
          <p:nvPr/>
        </p:nvSpPr>
        <p:spPr bwMode="auto">
          <a:xfrm rot="0" flipH="0" flipV="0">
            <a:off x="806181" y="4398818"/>
            <a:ext cx="2138795" cy="666749"/>
          </a:xfrm>
          <a:prstGeom prst="rect">
            <a:avLst/>
          </a:prstGeom>
          <a:noFill/>
          <a:ln w="38099" cap="flat" cmpd="sng" algn="ctr">
            <a:solidFill>
              <a:schemeClr val="tx1">
                <a:lumMod val="74901"/>
                <a:lumOff val="25099"/>
                <a:alpha val="26999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9402008" name=""/>
          <p:cNvSpPr txBox="1"/>
          <p:nvPr/>
        </p:nvSpPr>
        <p:spPr bwMode="auto">
          <a:xfrm rot="0" flipH="0" flipV="0">
            <a:off x="903971" y="5153363"/>
            <a:ext cx="20471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Cache Line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1391847854" name=""/>
          <p:cNvSpPr txBox="1"/>
          <p:nvPr/>
        </p:nvSpPr>
        <p:spPr bwMode="auto">
          <a:xfrm rot="0" flipH="0" flipV="0">
            <a:off x="1083575" y="1897545"/>
            <a:ext cx="205648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B matrix is not transposed</a:t>
            </a:r>
            <a:endParaRPr sz="1200">
              <a:latin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13301235" name=""/>
          <p:cNvGraphicFramePr>
            <a:graphicFrameLocks xmlns:a="http://schemas.openxmlformats.org/drawingml/2006/main"/>
          </p:cNvGraphicFramePr>
          <p:nvPr/>
        </p:nvGraphicFramePr>
        <p:xfrm rot="0">
          <a:off x="2075294" y="3693274"/>
          <a:ext cx="488895" cy="147573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476195"/>
              </a:tblGrid>
              <a:tr h="363985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  <a:tr h="34109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  <a:tr h="34109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  <a:tr h="34109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30076510" name=""/>
          <p:cNvSpPr txBox="1"/>
          <p:nvPr/>
        </p:nvSpPr>
        <p:spPr bwMode="auto">
          <a:xfrm rot="0" flipH="0" flipV="0">
            <a:off x="2564731" y="4293804"/>
            <a:ext cx="3982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+</a:t>
            </a:r>
            <a:endParaRPr sz="1200">
              <a:latin typeface="Open Sans"/>
              <a:cs typeface="Open Sans"/>
            </a:endParaRPr>
          </a:p>
        </p:txBody>
      </p:sp>
      <p:graphicFrame>
        <p:nvGraphicFramePr>
          <p:cNvPr id="1385339418" name=""/>
          <p:cNvGraphicFramePr>
            <a:graphicFrameLocks xmlns:a="http://schemas.openxmlformats.org/drawingml/2006/main"/>
          </p:cNvGraphicFramePr>
          <p:nvPr/>
        </p:nvGraphicFramePr>
        <p:xfrm rot="0">
          <a:off x="2962981" y="3693274"/>
          <a:ext cx="488895" cy="147573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476195"/>
              </a:tblGrid>
              <a:tr h="363985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  <a:tr h="34109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  <a:tr h="34109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  <a:tr h="34109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2433546" name=""/>
          <p:cNvGraphicFramePr>
            <a:graphicFrameLocks xmlns:a="http://schemas.openxmlformats.org/drawingml/2006/main"/>
          </p:cNvGraphicFramePr>
          <p:nvPr/>
        </p:nvGraphicFramePr>
        <p:xfrm rot="0">
          <a:off x="3854867" y="3693274"/>
          <a:ext cx="488895" cy="147573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476195"/>
              </a:tblGrid>
              <a:tr h="363985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  <a:tr h="34109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  <a:tr h="34109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  <a:tr h="34109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31068413" name=""/>
          <p:cNvSpPr txBox="1"/>
          <p:nvPr/>
        </p:nvSpPr>
        <p:spPr bwMode="auto">
          <a:xfrm rot="0" flipH="0" flipV="0">
            <a:off x="3451877" y="4293804"/>
            <a:ext cx="39897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cs typeface="Open Sans"/>
              </a:rPr>
              <a:t>=</a:t>
            </a:r>
            <a:endParaRPr sz="1200">
              <a:latin typeface="Open Sans"/>
              <a:cs typeface="Open Sans"/>
            </a:endParaRPr>
          </a:p>
        </p:txBody>
      </p:sp>
      <p:graphicFrame>
        <p:nvGraphicFramePr>
          <p:cNvPr id="1770794190" name=""/>
          <p:cNvGraphicFramePr>
            <a:graphicFrameLocks xmlns:a="http://schemas.openxmlformats.org/drawingml/2006/main"/>
          </p:cNvGraphicFramePr>
          <p:nvPr/>
        </p:nvGraphicFramePr>
        <p:xfrm rot="0">
          <a:off x="2962981" y="2498782"/>
          <a:ext cx="488895" cy="3784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476195"/>
              </a:tblGrid>
              <a:tr h="363985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18854114" name=""/>
          <p:cNvSpPr txBox="1"/>
          <p:nvPr/>
        </p:nvSpPr>
        <p:spPr bwMode="auto">
          <a:xfrm rot="0" flipH="0" flipV="0">
            <a:off x="2568750" y="2553789"/>
            <a:ext cx="3982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+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1457644985" name=""/>
          <p:cNvSpPr txBox="1"/>
          <p:nvPr/>
        </p:nvSpPr>
        <p:spPr bwMode="auto">
          <a:xfrm rot="0" flipH="0" flipV="0">
            <a:off x="3455897" y="2553789"/>
            <a:ext cx="39897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cs typeface="Open Sans"/>
              </a:rPr>
              <a:t>=</a:t>
            </a:r>
            <a:endParaRPr sz="1200">
              <a:latin typeface="Open Sans"/>
              <a:cs typeface="Open Sans"/>
            </a:endParaRPr>
          </a:p>
        </p:txBody>
      </p:sp>
      <p:graphicFrame>
        <p:nvGraphicFramePr>
          <p:cNvPr id="797734920" name=""/>
          <p:cNvGraphicFramePr>
            <a:graphicFrameLocks xmlns:a="http://schemas.openxmlformats.org/drawingml/2006/main"/>
          </p:cNvGraphicFramePr>
          <p:nvPr/>
        </p:nvGraphicFramePr>
        <p:xfrm rot="0">
          <a:off x="2075294" y="2498782"/>
          <a:ext cx="488895" cy="147573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476195"/>
              </a:tblGrid>
              <a:tr h="363985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1149725" name=""/>
          <p:cNvGraphicFramePr>
            <a:graphicFrameLocks xmlns:a="http://schemas.openxmlformats.org/drawingml/2006/main"/>
          </p:cNvGraphicFramePr>
          <p:nvPr/>
        </p:nvGraphicFramePr>
        <p:xfrm rot="0">
          <a:off x="3854867" y="2498782"/>
          <a:ext cx="488895" cy="3784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476195"/>
              </a:tblGrid>
              <a:tr h="363985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36271717" name=""/>
          <p:cNvSpPr txBox="1"/>
          <p:nvPr/>
        </p:nvSpPr>
        <p:spPr bwMode="auto">
          <a:xfrm rot="0" flipH="0" flipV="0">
            <a:off x="2179006" y="2088045"/>
            <a:ext cx="206008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Scalar Op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516825306" name=""/>
          <p:cNvSpPr txBox="1"/>
          <p:nvPr/>
        </p:nvSpPr>
        <p:spPr bwMode="auto">
          <a:xfrm rot="0" flipH="0" flipV="0">
            <a:off x="2179006" y="3200220"/>
            <a:ext cx="2075564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Vector Op (processing more bytes per second)</a:t>
            </a:r>
            <a:endParaRPr sz="1200">
              <a:latin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2026-01-21T22:37:08Z</dcterms:modified>
</cp:coreProperties>
</file>